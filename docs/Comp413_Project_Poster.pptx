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62004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-90" y="-13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4124164"/>
            <a:ext cx="13770372" cy="8773325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13235822"/>
            <a:ext cx="12150329" cy="6084159"/>
          </a:xfrm>
        </p:spPr>
        <p:txBody>
          <a:bodyPr/>
          <a:lstStyle>
            <a:lvl1pPr marL="0" indent="0" algn="ctr">
              <a:buNone/>
              <a:defRPr sz="4252"/>
            </a:lvl1pPr>
            <a:lvl2pPr marL="810021" indent="0" algn="ctr">
              <a:buNone/>
              <a:defRPr sz="3543"/>
            </a:lvl2pPr>
            <a:lvl3pPr marL="1620042" indent="0" algn="ctr">
              <a:buNone/>
              <a:defRPr sz="3189"/>
            </a:lvl3pPr>
            <a:lvl4pPr marL="2430064" indent="0" algn="ctr">
              <a:buNone/>
              <a:defRPr sz="2835"/>
            </a:lvl4pPr>
            <a:lvl5pPr marL="3240085" indent="0" algn="ctr">
              <a:buNone/>
              <a:defRPr sz="2835"/>
            </a:lvl5pPr>
            <a:lvl6pPr marL="4050106" indent="0" algn="ctr">
              <a:buNone/>
              <a:defRPr sz="2835"/>
            </a:lvl6pPr>
            <a:lvl7pPr marL="4860127" indent="0" algn="ctr">
              <a:buNone/>
              <a:defRPr sz="2835"/>
            </a:lvl7pPr>
            <a:lvl8pPr marL="5670149" indent="0" algn="ctr">
              <a:buNone/>
              <a:defRPr sz="2835"/>
            </a:lvl8pPr>
            <a:lvl9pPr marL="6480170" indent="0" algn="ctr">
              <a:buNone/>
              <a:defRPr sz="283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422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5611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3" y="6282501"/>
            <a:ext cx="13972878" cy="10482488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3" y="16864157"/>
            <a:ext cx="13972878" cy="5512493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1pPr>
            <a:lvl2pPr marL="810021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2pPr>
            <a:lvl3pPr marL="1620042" indent="0">
              <a:buNone/>
              <a:defRPr sz="3189">
                <a:solidFill>
                  <a:schemeClr val="tx1">
                    <a:tint val="82000"/>
                  </a:schemeClr>
                </a:solidFill>
              </a:defRPr>
            </a:lvl3pPr>
            <a:lvl4pPr marL="2430064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4pPr>
            <a:lvl5pPr marL="3240085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5pPr>
            <a:lvl6pPr marL="4050106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6pPr>
            <a:lvl7pPr marL="486012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7pPr>
            <a:lvl8pPr marL="5670149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8pPr>
            <a:lvl9pPr marL="648017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119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6708326"/>
            <a:ext cx="6885186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6708326"/>
            <a:ext cx="6885186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297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341671"/>
            <a:ext cx="13972878" cy="487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2" y="6177496"/>
            <a:ext cx="6853544" cy="3027495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2" y="9204991"/>
            <a:ext cx="6853544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3" y="6177496"/>
            <a:ext cx="6887296" cy="3027495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3" y="9204991"/>
            <a:ext cx="6887296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110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401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742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679998"/>
            <a:ext cx="5225063" cy="587999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3628335"/>
            <a:ext cx="8201472" cy="17908316"/>
          </a:xfrm>
        </p:spPr>
        <p:txBody>
          <a:bodyPr/>
          <a:lstStyle>
            <a:lvl1pPr>
              <a:defRPr sz="5669"/>
            </a:lvl1pPr>
            <a:lvl2pPr>
              <a:defRPr sz="4961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7559993"/>
            <a:ext cx="5225063" cy="14005821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8135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679998"/>
            <a:ext cx="5225063" cy="587999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3628335"/>
            <a:ext cx="8201472" cy="17908316"/>
          </a:xfrm>
        </p:spPr>
        <p:txBody>
          <a:bodyPr anchor="t"/>
          <a:lstStyle>
            <a:lvl1pPr marL="0" indent="0">
              <a:buNone/>
              <a:defRPr sz="5669"/>
            </a:lvl1pPr>
            <a:lvl2pPr marL="810021" indent="0">
              <a:buNone/>
              <a:defRPr sz="4961"/>
            </a:lvl2pPr>
            <a:lvl3pPr marL="1620042" indent="0">
              <a:buNone/>
              <a:defRPr sz="4252"/>
            </a:lvl3pPr>
            <a:lvl4pPr marL="2430064" indent="0">
              <a:buNone/>
              <a:defRPr sz="3543"/>
            </a:lvl4pPr>
            <a:lvl5pPr marL="3240085" indent="0">
              <a:buNone/>
              <a:defRPr sz="3543"/>
            </a:lvl5pPr>
            <a:lvl6pPr marL="4050106" indent="0">
              <a:buNone/>
              <a:defRPr sz="3543"/>
            </a:lvl6pPr>
            <a:lvl7pPr marL="4860127" indent="0">
              <a:buNone/>
              <a:defRPr sz="3543"/>
            </a:lvl7pPr>
            <a:lvl8pPr marL="5670149" indent="0">
              <a:buNone/>
              <a:defRPr sz="3543"/>
            </a:lvl8pPr>
            <a:lvl9pPr marL="6480170" indent="0">
              <a:buNone/>
              <a:defRPr sz="354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7559993"/>
            <a:ext cx="5225063" cy="14005821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342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7879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40" y="1341665"/>
            <a:ext cx="3493219" cy="213558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1" y="1341665"/>
            <a:ext cx="10277153" cy="213558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640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1341671"/>
            <a:ext cx="13972878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6708326"/>
            <a:ext cx="13972878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23356649"/>
            <a:ext cx="364509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2AEE5-0B08-4ED9-9DCB-3987F164AC4D}" type="datetimeFigureOut">
              <a:rPr lang="tr-TR" smtClean="0"/>
              <a:t>7.01.2026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23356649"/>
            <a:ext cx="5467648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23356649"/>
            <a:ext cx="364509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C5661-19C2-434D-A910-3A9CD19491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8416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0042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5011" indent="-405011" algn="l" defTabSz="162004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15032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5053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5074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5096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5117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5138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5159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5181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10021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20042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30064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40085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50106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60127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70149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8017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2D3CB0-EBA4-1291-A3AE-545FD8AA6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8" y="500733"/>
            <a:ext cx="1020812" cy="10577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E671E3-4B44-FB4A-00EB-2E42B1BA21CE}"/>
              </a:ext>
            </a:extLst>
          </p:cNvPr>
          <p:cNvSpPr/>
          <p:nvPr/>
        </p:nvSpPr>
        <p:spPr>
          <a:xfrm>
            <a:off x="1313085" y="239958"/>
            <a:ext cx="14422215" cy="1579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Garbage System “Absolute Trash”</a:t>
            </a:r>
          </a:p>
          <a:p>
            <a:pPr algn="ctr"/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FillMonitoring,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FireDetection,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Tilt-Over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Oğuzhan Alasulu, Serkan Kıyaklı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Abdullah Gül University, Kayseri, Türkiye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January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DBA212-519F-8C7E-8792-4D1AC218FF5C}"/>
              </a:ext>
            </a:extLst>
          </p:cNvPr>
          <p:cNvSpPr/>
          <p:nvPr/>
        </p:nvSpPr>
        <p:spPr>
          <a:xfrm>
            <a:off x="149398" y="2299678"/>
            <a:ext cx="5118639" cy="546443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tr-T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BF10E8-BC4A-03D1-8E60-4C35CE295D2C}"/>
              </a:ext>
            </a:extLst>
          </p:cNvPr>
          <p:cNvSpPr/>
          <p:nvPr/>
        </p:nvSpPr>
        <p:spPr>
          <a:xfrm>
            <a:off x="149397" y="2836595"/>
            <a:ext cx="5118639" cy="46958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</a:rPr>
              <a:t>Municipal solid-waste collection influences public health, safety, operational cost, traffic congestion, and greenhouse-gas emissions. Fixed collection schedules can waste resources by visiting half-empty bins while missing bins that fill early.</a:t>
            </a:r>
          </a:p>
          <a:p>
            <a:r>
              <a:rPr lang="en-US" sz="1300" dirty="0">
                <a:solidFill>
                  <a:schemeClr val="tx1"/>
                </a:solidFill>
              </a:rPr>
              <a:t> This work presents an IoT prototype titled Smart Garbage System for Sustainable Cities using Blynk, implemented on an ESP32-WROVER with Wi-Fi connectivity. The system integrates: (</a:t>
            </a:r>
            <a:r>
              <a:rPr lang="en-US" sz="1300" dirty="0" err="1">
                <a:solidFill>
                  <a:schemeClr val="tx1"/>
                </a:solidFill>
              </a:rPr>
              <a:t>i</a:t>
            </a:r>
            <a:r>
              <a:rPr lang="en-US" sz="1300" dirty="0">
                <a:solidFill>
                  <a:schemeClr val="tx1"/>
                </a:solidFill>
              </a:rPr>
              <a:t>) a KY-032 top-mounted level sensor (installed upside down at the bin top) to infer a service-needed fill state, (ii) a KY-026 flame sensor using digital D0 detection with polarity fixed to match observed module behavior, (iii) a KY-020 tilt sensor to detect bin tilt-over events, and (iv) a DHT11 module for temperature and humidity monitoring. Observability is provided through a local </a:t>
            </a:r>
            <a:r>
              <a:rPr lang="en-US" sz="1300" dirty="0" err="1">
                <a:solidFill>
                  <a:schemeClr val="tx1"/>
                </a:solidFill>
              </a:rPr>
              <a:t>WebUI</a:t>
            </a:r>
            <a:r>
              <a:rPr lang="en-US" sz="1300" dirty="0">
                <a:solidFill>
                  <a:schemeClr val="tx1"/>
                </a:solidFill>
              </a:rPr>
              <a:t> and JSON endpoints, and a cloud dashboard via Blynk virtual pins. Practical reliability adjustments were incorporated from integrated testing: fixed flame D0 logic (active-high), analog backup detection disabled when the analog channel saturates, bounded Wi-Fi connection startup, and </a:t>
            </a:r>
            <a:r>
              <a:rPr lang="en-US" sz="1300" dirty="0" err="1">
                <a:solidFill>
                  <a:schemeClr val="tx1"/>
                </a:solidFill>
              </a:rPr>
              <a:t>WebUI</a:t>
            </a:r>
            <a:r>
              <a:rPr lang="en-US" sz="1300" dirty="0">
                <a:solidFill>
                  <a:schemeClr val="tx1"/>
                </a:solidFill>
              </a:rPr>
              <a:t> stored in flash (PROGMEM) to reduce RAM usage. The platform demonstrates a low-cost and extensible architecture for condition-based collection and safety-aware municipal operations.</a:t>
            </a:r>
          </a:p>
          <a:p>
            <a:endParaRPr lang="en-US" sz="1300" dirty="0">
              <a:solidFill>
                <a:schemeClr val="tx1"/>
              </a:solidFill>
            </a:endParaRPr>
          </a:p>
          <a:p>
            <a:r>
              <a:rPr lang="en-US" sz="1300" dirty="0">
                <a:solidFill>
                  <a:schemeClr val="tx1"/>
                </a:solidFill>
              </a:rPr>
              <a:t>Keywords: smart waste management, sustainable cities, IoT, ESP32, Blynk, fire detection, fill-level sensing, tilt detection, </a:t>
            </a:r>
            <a:r>
              <a:rPr lang="en-US" sz="1300" dirty="0" err="1">
                <a:solidFill>
                  <a:schemeClr val="tx1"/>
                </a:solidFill>
              </a:rPr>
              <a:t>WebUI</a:t>
            </a:r>
            <a:r>
              <a:rPr lang="en-US" sz="1300" dirty="0">
                <a:solidFill>
                  <a:schemeClr val="tx1"/>
                </a:solidFill>
              </a:rPr>
              <a:t>, reliability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2CBF81-D445-95B9-3670-A622FF69A39A}"/>
              </a:ext>
            </a:extLst>
          </p:cNvPr>
          <p:cNvSpPr/>
          <p:nvPr/>
        </p:nvSpPr>
        <p:spPr>
          <a:xfrm>
            <a:off x="5616454" y="2316871"/>
            <a:ext cx="5118639" cy="546443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and Motivation</a:t>
            </a:r>
            <a:endParaRPr lang="tr-T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BF0E7E-3EC4-5954-25C1-514CAF6DDE69}"/>
              </a:ext>
            </a:extLst>
          </p:cNvPr>
          <p:cNvSpPr/>
          <p:nvPr/>
        </p:nvSpPr>
        <p:spPr>
          <a:xfrm>
            <a:off x="5616453" y="2836594"/>
            <a:ext cx="5118639" cy="46958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</a:rPr>
              <a:t>Sustainable city operations depend on reliable municipal services. Waste management affects urban cleanliness, public health, operational costs, and emissions due to collection vehicle routing. Fixed schedules may cause:</a:t>
            </a:r>
          </a:p>
          <a:p>
            <a:endParaRPr lang="en-US" sz="13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Unnecessary trips to half-empty bins (inefficient fuel/time usage)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Delayed service for full bins (overflow and hygiene issues)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Safety/service risks due to localized bin fires or bins being displaced/tilted by wind, impacts, or vandalism</a:t>
            </a:r>
          </a:p>
          <a:p>
            <a:endParaRPr lang="en-US" sz="1300" dirty="0">
              <a:solidFill>
                <a:schemeClr val="tx1"/>
              </a:solidFill>
            </a:endParaRPr>
          </a:p>
          <a:p>
            <a:r>
              <a:rPr lang="en-US" sz="1300" dirty="0">
                <a:solidFill>
                  <a:schemeClr val="tx1"/>
                </a:solidFill>
              </a:rPr>
              <a:t>Design principle: decision-level indicators </a:t>
            </a:r>
          </a:p>
          <a:p>
            <a:r>
              <a:rPr lang="en-US" sz="1300" dirty="0">
                <a:solidFill>
                  <a:schemeClr val="tx1"/>
                </a:solidFill>
              </a:rPr>
              <a:t>A sensing system becomes valuable only if it produces signals that map cleanly to operational actions. Therefore, we focus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Service-needed (fill): “Should this bin be routed soon?”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Safety hazard (fire): “Is there an immediate hazard requiring escalation?”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Integrity/availability (tilt): “Has the bin been knocked over and needs attention?”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76BAB9-DCC2-01DF-B6C6-3D6C05B4C3DC}"/>
              </a:ext>
            </a:extLst>
          </p:cNvPr>
          <p:cNvSpPr/>
          <p:nvPr/>
        </p:nvSpPr>
        <p:spPr>
          <a:xfrm>
            <a:off x="11083511" y="2316872"/>
            <a:ext cx="5118639" cy="546443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tr-T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9F18D7-F536-480C-E915-DDC99B2D9239}"/>
              </a:ext>
            </a:extLst>
          </p:cNvPr>
          <p:cNvSpPr/>
          <p:nvPr/>
        </p:nvSpPr>
        <p:spPr>
          <a:xfrm>
            <a:off x="11081799" y="2863314"/>
            <a:ext cx="5118639" cy="46958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O1 — Multi-sensor monitoring: implement fill inference (KY-032), fire detection (KY-026 D0), tilt-over detection (KY-020), and environment sensing (DHT11).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O2 — Dual observability: provide both local commissioning/diagnostics (</a:t>
            </a:r>
            <a:r>
              <a:rPr lang="en-US" sz="1300" dirty="0" err="1">
                <a:solidFill>
                  <a:schemeClr val="tx1"/>
                </a:solidFill>
              </a:rPr>
              <a:t>WebUI</a:t>
            </a:r>
            <a:r>
              <a:rPr lang="en-US" sz="1300" dirty="0">
                <a:solidFill>
                  <a:schemeClr val="tx1"/>
                </a:solidFill>
              </a:rPr>
              <a:t> + REST/JSON endpoints) and remote monitoring/configuration (Blynk dashboard).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O3 — Reliability-aware firmware: mitigate unstable raw sensor toggles using majority voting, stability timing, and latching; include Wi-Fi timeout and PROGMEM </a:t>
            </a:r>
            <a:r>
              <a:rPr lang="en-US" sz="1300" dirty="0" err="1">
                <a:solidFill>
                  <a:schemeClr val="tx1"/>
                </a:solidFill>
              </a:rPr>
              <a:t>WebUI</a:t>
            </a:r>
            <a:r>
              <a:rPr lang="en-US" sz="1300" dirty="0">
                <a:solidFill>
                  <a:schemeClr val="tx1"/>
                </a:solidFill>
              </a:rPr>
              <a:t> storage for robust integrated operation.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6A2B76-9282-1A2B-B098-C1F36277E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97" y="8480254"/>
            <a:ext cx="7090334" cy="41197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0587AF6-FA70-9EF8-58FA-E3402D2CE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98" y="13444709"/>
            <a:ext cx="6730607" cy="481202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63F746D-91B3-3793-45D1-34FC8507F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98" y="18281830"/>
            <a:ext cx="6730607" cy="68652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E97B651-53AB-DFB4-B374-11BA2D253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49168" y="24117300"/>
            <a:ext cx="1085181" cy="10826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53DD293-D575-D3F2-0E62-5371E6BE12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34349" y="24117299"/>
            <a:ext cx="1181146" cy="10858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82B5C16-8B1B-67A5-2F85-12394C6A6C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15257" y="24117299"/>
            <a:ext cx="1085181" cy="10826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E7DEB48-E9B5-2EEC-00E6-07815E97B1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8399" y="23849973"/>
            <a:ext cx="870206" cy="86563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0C4D45D-6B49-7163-E294-8D37C41F08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030" y="23849973"/>
            <a:ext cx="982858" cy="97769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06F8FE9-5C62-2FC4-E868-1733BC7B0C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005" y="21604808"/>
            <a:ext cx="5550419" cy="370332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B2D28AF-99B7-7064-B704-76F7B64C0B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5457" y="21876262"/>
            <a:ext cx="925661" cy="92079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5B18C4C-3D5C-293F-8577-143CDDDC9B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030" y="21918881"/>
            <a:ext cx="1088042" cy="108232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0CCF0C6-63F2-E92A-45DB-14AC5E9A24D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872" y="23875553"/>
            <a:ext cx="844491" cy="840054"/>
          </a:xfrm>
          <a:prstGeom prst="rect">
            <a:avLst/>
          </a:prstGeom>
        </p:spPr>
      </p:pic>
      <p:pic>
        <p:nvPicPr>
          <p:cNvPr id="46" name="Picture 45" descr="Photograph of a metal trash can with an open lid containing crumpled brown paper and connected to a circuit board with multiple colored wires. The setup appears to be a DIY electronic project, possibly involving sensor or automation components attached to the trash can.&#10;&#10;AI-generated content may be incorrect.">
            <a:extLst>
              <a:ext uri="{FF2B5EF4-FFF2-40B4-BE49-F238E27FC236}">
                <a16:creationId xmlns:a16="http://schemas.microsoft.com/office/drawing/2014/main" id="{9CCD49F2-D5EA-D131-3716-4C07ECAF33B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4724" y="8316940"/>
            <a:ext cx="3731688" cy="411973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2E8D9B1-B05C-BCB8-AB3E-92B83BF1839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48287" y="8362312"/>
            <a:ext cx="3690426" cy="4074361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FA603747-616E-6E26-5B2D-A4DFD38935B4}"/>
              </a:ext>
            </a:extLst>
          </p:cNvPr>
          <p:cNvSpPr/>
          <p:nvPr/>
        </p:nvSpPr>
        <p:spPr>
          <a:xfrm>
            <a:off x="149397" y="7796115"/>
            <a:ext cx="7090334" cy="546443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Schema</a:t>
            </a:r>
            <a:endParaRPr lang="tr-T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C9DFABE-FA32-F54E-9049-3D49519BF4DA}"/>
              </a:ext>
            </a:extLst>
          </p:cNvPr>
          <p:cNvSpPr/>
          <p:nvPr/>
        </p:nvSpPr>
        <p:spPr>
          <a:xfrm>
            <a:off x="7714724" y="7796115"/>
            <a:ext cx="3731687" cy="546443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  <a:endParaRPr lang="tr-T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6D3B73-4945-765B-253E-A0FF1255F313}"/>
              </a:ext>
            </a:extLst>
          </p:cNvPr>
          <p:cNvSpPr/>
          <p:nvPr/>
        </p:nvSpPr>
        <p:spPr>
          <a:xfrm>
            <a:off x="11921404" y="7812374"/>
            <a:ext cx="3731687" cy="546443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Remote Dashboard</a:t>
            </a:r>
            <a:endParaRPr lang="tr-T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99238-C899-3531-0120-0C9A141DDBB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4"/>
          <a:stretch>
            <a:fillRect/>
          </a:stretch>
        </p:blipFill>
        <p:spPr>
          <a:xfrm>
            <a:off x="7637935" y="13896775"/>
            <a:ext cx="8015156" cy="44557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77BF63-E622-5CBD-B067-65CA9075F06A}"/>
              </a:ext>
            </a:extLst>
          </p:cNvPr>
          <p:cNvSpPr/>
          <p:nvPr/>
        </p:nvSpPr>
        <p:spPr>
          <a:xfrm>
            <a:off x="7637935" y="13292551"/>
            <a:ext cx="8015156" cy="546443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Blynk Dashboard</a:t>
            </a:r>
            <a:endParaRPr lang="tr-T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CE5D26-698A-25A6-6994-DECDAD50F7E8}"/>
              </a:ext>
            </a:extLst>
          </p:cNvPr>
          <p:cNvSpPr/>
          <p:nvPr/>
        </p:nvSpPr>
        <p:spPr>
          <a:xfrm>
            <a:off x="149397" y="13292552"/>
            <a:ext cx="6730607" cy="546443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Configuration</a:t>
            </a:r>
            <a:endParaRPr lang="tr-T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04AC93-EC30-7BF4-7D0F-DCD466D22598}"/>
              </a:ext>
            </a:extLst>
          </p:cNvPr>
          <p:cNvSpPr/>
          <p:nvPr/>
        </p:nvSpPr>
        <p:spPr>
          <a:xfrm>
            <a:off x="149396" y="18135665"/>
            <a:ext cx="6730607" cy="546443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  <a:endParaRPr lang="tr-T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A40A51-1739-D324-1676-7CAC3ABF232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772840" y="22646148"/>
            <a:ext cx="1487216" cy="14680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F33F43-F753-3632-4AB7-66C139DAF08C}"/>
              </a:ext>
            </a:extLst>
          </p:cNvPr>
          <p:cNvSpPr/>
          <p:nvPr/>
        </p:nvSpPr>
        <p:spPr>
          <a:xfrm>
            <a:off x="13781314" y="21859298"/>
            <a:ext cx="1487216" cy="783699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Project</a:t>
            </a:r>
            <a:endParaRPr lang="tr-T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74950-1FAF-ECA7-E45E-FA60BD99B1F4}"/>
              </a:ext>
            </a:extLst>
          </p:cNvPr>
          <p:cNvSpPr/>
          <p:nvPr/>
        </p:nvSpPr>
        <p:spPr>
          <a:xfrm>
            <a:off x="7637935" y="18499506"/>
            <a:ext cx="6878513" cy="546443"/>
          </a:xfrm>
          <a:prstGeom prst="rect">
            <a:avLst/>
          </a:prstGeom>
          <a:solidFill>
            <a:srgbClr val="00607F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10DA19-B02D-BA69-8BB9-AD96B05CF5CA}"/>
              </a:ext>
            </a:extLst>
          </p:cNvPr>
          <p:cNvSpPr txBox="1"/>
          <p:nvPr/>
        </p:nvSpPr>
        <p:spPr>
          <a:xfrm>
            <a:off x="7637935" y="19087544"/>
            <a:ext cx="723227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1300" dirty="0"/>
              <a:t>Multi-sensor ESP32 bin monitoring achieved (fill/tilt/fire + environment) with </a:t>
            </a:r>
            <a:r>
              <a:rPr lang="tr-TR" sz="1300" b="1" dirty="0"/>
              <a:t>local alarms</a:t>
            </a:r>
            <a:r>
              <a:rPr lang="tr-TR" sz="1300" dirty="0"/>
              <a:t> and </a:t>
            </a:r>
            <a:r>
              <a:rPr lang="tr-TR" sz="1300" b="1" dirty="0"/>
              <a:t>remote visibility</a:t>
            </a:r>
            <a:r>
              <a:rPr lang="tr-TR" sz="13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300" dirty="0"/>
              <a:t>Fire event triggers </a:t>
            </a:r>
            <a:r>
              <a:rPr lang="tr-TR" sz="1300" b="1" dirty="0"/>
              <a:t>immediate buzzer + LEDs</a:t>
            </a:r>
            <a:r>
              <a:rPr lang="tr-TR" sz="1300" dirty="0"/>
              <a:t>, while dashboard logs and shows real-time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300" dirty="0"/>
              <a:t>Threshold + latching approach improves reliability against noisy / temporary readings.</a:t>
            </a:r>
            <a:endParaRPr lang="en-US" sz="1300" dirty="0"/>
          </a:p>
          <a:p>
            <a:pPr>
              <a:buFont typeface="Arial" panose="020B0604020202020204" pitchFamily="34" charset="0"/>
              <a:buChar char="•"/>
            </a:pPr>
            <a:endParaRPr lang="en-US" sz="1300" dirty="0"/>
          </a:p>
          <a:p>
            <a:pPr>
              <a:buNone/>
            </a:pPr>
            <a:r>
              <a:rPr lang="en-US" sz="1300" b="1" dirty="0"/>
              <a:t>As a Future work; </a:t>
            </a:r>
          </a:p>
          <a:p>
            <a:pPr>
              <a:buNone/>
            </a:pPr>
            <a:r>
              <a:rPr lang="tr-TR" sz="1300" dirty="0"/>
              <a:t>Add </a:t>
            </a:r>
            <a:r>
              <a:rPr lang="tr-TR" sz="1300" b="1" dirty="0"/>
              <a:t>continuous fill-level</a:t>
            </a:r>
            <a:r>
              <a:rPr lang="tr-TR" sz="1300" dirty="0"/>
              <a:t> sensing (e.g., ToF/ultrasonic) + calibration for different bin types.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300" dirty="0"/>
              <a:t>Improve outdoor readiness: </a:t>
            </a:r>
            <a:r>
              <a:rPr lang="tr-TR" sz="1300" b="1" dirty="0"/>
              <a:t>enclosure</a:t>
            </a:r>
            <a:r>
              <a:rPr lang="tr-TR" sz="1300" dirty="0"/>
              <a:t>, cable management, waterproofing, mounting.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300" dirty="0"/>
              <a:t>Add </a:t>
            </a:r>
            <a:r>
              <a:rPr lang="tr-TR" sz="1300" b="1" dirty="0"/>
              <a:t>power strategy</a:t>
            </a:r>
            <a:r>
              <a:rPr lang="tr-TR" sz="1300" dirty="0"/>
              <a:t> (battery + deep sleep / solar) and estimate runtime.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300" dirty="0"/>
              <a:t>Add stronger comms option (LoRa/cellular) for non-WiFi areas + alert escalation.</a:t>
            </a:r>
          </a:p>
        </p:txBody>
      </p:sp>
    </p:spTree>
    <p:extLst>
      <p:ext uri="{BB962C8B-B14F-4D97-AF65-F5344CB8AC3E}">
        <p14:creationId xmlns:p14="http://schemas.microsoft.com/office/powerpoint/2010/main" val="2919228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652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Serkan KIYAKLI</dc:creator>
  <cp:lastModifiedBy>Serkan KIYAKLI</cp:lastModifiedBy>
  <cp:revision>24</cp:revision>
  <dcterms:created xsi:type="dcterms:W3CDTF">2026-01-06T21:11:35Z</dcterms:created>
  <dcterms:modified xsi:type="dcterms:W3CDTF">2026-01-07T19:32:11Z</dcterms:modified>
</cp:coreProperties>
</file>